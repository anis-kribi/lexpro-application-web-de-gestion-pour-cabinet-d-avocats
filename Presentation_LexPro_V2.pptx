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91440" cy="6858000"/>
          </a:xfrm>
          <a:prstGeom prst="rect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-1097280"/>
            <a:ext cx="5486400" cy="5486400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0" y="-365760"/>
            <a:ext cx="3657600" cy="3657600"/>
          </a:xfrm>
          <a:prstGeom prst="ellipse">
            <a:avLst/>
          </a:prstGeom>
          <a:solidFill>
            <a:srgbClr val="1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914400"/>
            <a:ext cx="6858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BTS DEVELOPPEMENT SUR INTERNET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0584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0" b="1" i="0">
                <a:solidFill>
                  <a:srgbClr val="FFFFFF"/>
                </a:solidFill>
                <a:latin typeface="Calibri"/>
              </a:rPr>
              <a:t>LexPro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9A02C"/>
                </a:solidFill>
                <a:latin typeface="Calibri"/>
              </a:rPr>
              <a:t>Conception et developpement d'une application web
de gestion pour cabinet d'avocats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43400"/>
            <a:ext cx="5486400" cy="45720"/>
          </a:xfrm>
          <a:prstGeom prst="rect">
            <a:avLst/>
          </a:prstGeom>
          <a:solidFill>
            <a:srgbClr val="4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Elabore par :  Med Khalil Kribi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CF8"/>
                </a:solidFill>
                <a:latin typeface="Calibri"/>
              </a:rPr>
              <a:t>Encadre par : M. Walid Ben Abda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02C"/>
                </a:solidFill>
                <a:latin typeface="Calibri"/>
              </a:rPr>
              <a:t>2024 / 2025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960120"/>
            <a:ext cx="3959352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566160" cy="233172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109728" cy="2331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34639" y="1143000"/>
            <a:ext cx="1188720" cy="1188720"/>
          </a:xfrm>
          <a:prstGeom prst="ellipse">
            <a:avLst/>
          </a:prstGeom>
          <a:solidFill>
            <a:srgbClr val="0A1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276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688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Problematique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63040"/>
            <a:ext cx="3566160" cy="2331720"/>
          </a:xfrm>
          <a:prstGeom prst="rect">
            <a:avLst/>
          </a:prstGeom>
          <a:solidFill>
            <a:srgbClr val="12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63040"/>
            <a:ext cx="109728" cy="2331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1143000"/>
            <a:ext cx="1188720" cy="1188720"/>
          </a:xfrm>
          <a:prstGeom prst="ellipse">
            <a:avLst/>
          </a:prstGeom>
          <a:solidFill>
            <a:srgbClr val="0A1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276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4688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Specification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463040"/>
            <a:ext cx="3566160" cy="233172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463040"/>
            <a:ext cx="109728" cy="2331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0" y="1143000"/>
            <a:ext cx="1188720" cy="1188720"/>
          </a:xfrm>
          <a:prstGeom prst="ellipse">
            <a:avLst/>
          </a:prstGeom>
          <a:solidFill>
            <a:srgbClr val="0A1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6276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4688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Conception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40480"/>
            <a:ext cx="3566160" cy="2331720"/>
          </a:xfrm>
          <a:prstGeom prst="rect">
            <a:avLst/>
          </a:prstGeom>
          <a:solidFill>
            <a:srgbClr val="12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109728" cy="2331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834639" y="3520440"/>
            <a:ext cx="1188720" cy="1188720"/>
          </a:xfrm>
          <a:prstGeom prst="ellipse">
            <a:avLst/>
          </a:prstGeom>
          <a:solidFill>
            <a:srgbClr val="0A1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00507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02C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8463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Technologies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3840480"/>
            <a:ext cx="3566160" cy="233172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3840480"/>
            <a:ext cx="109728" cy="2331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75120" y="3520440"/>
            <a:ext cx="1188720" cy="1188720"/>
          </a:xfrm>
          <a:prstGeom prst="ellipse">
            <a:avLst/>
          </a:prstGeom>
          <a:solidFill>
            <a:srgbClr val="0A1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15968" y="400507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02C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48463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Realisation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3840480"/>
            <a:ext cx="3566160" cy="2331720"/>
          </a:xfrm>
          <a:prstGeom prst="rect">
            <a:avLst/>
          </a:prstGeom>
          <a:solidFill>
            <a:srgbClr val="12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79" y="3840480"/>
            <a:ext cx="109728" cy="2331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15600" y="3520440"/>
            <a:ext cx="1188720" cy="1188720"/>
          </a:xfrm>
          <a:prstGeom prst="ellipse">
            <a:avLst/>
          </a:prstGeom>
          <a:solidFill>
            <a:srgbClr val="0A1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6448" y="400507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02C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48463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</p:spTree>
  </p:cSld>
  <p:transition spd="med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457200"/>
            <a:ext cx="5943600" cy="594360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0"/>
            <a:ext cx="6400800" cy="6400800"/>
          </a:xfrm>
          <a:prstGeom prst="ellipse">
            <a:avLst/>
          </a:prstGeom>
          <a:solidFill>
            <a:srgbClr val="1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00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5307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Problematique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3657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9576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Problematique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15568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5303520" cy="502920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109728" cy="5029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600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Contexte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148840"/>
            <a:ext cx="48463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860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Gerer un cabinet d'avocats implique de manipuler des centaines de dossiers, rendez-vous et documents disperses, causant des pertes de temps importantes et des risques d'erreurs.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486400" cy="5029200"/>
          </a:xfrm>
          <a:prstGeom prst="rect">
            <a:avLst/>
          </a:prstGeom>
          <a:solidFill>
            <a:srgbClr val="ED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109728" cy="50292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600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45E"/>
                </a:solidFill>
                <a:latin typeface="Calibri"/>
              </a:rPr>
              <a:t>Problematique centrale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148840"/>
            <a:ext cx="5029200" cy="36576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2860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45E"/>
                </a:solidFill>
                <a:latin typeface="Calibri"/>
              </a:rPr>
              <a:t>Comment centraliser sur une seule plateforme web securisee :
- La gestion des dossiers juridiques
- Le suivi du temps facturable
- La facturation automatisee
- L'agenda et les rendez-vous
...pour les avocats et leurs assistants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1463040"/>
            <a:ext cx="91440" cy="50292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push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457200"/>
            <a:ext cx="5943600" cy="594360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0"/>
            <a:ext cx="6400800" cy="6400800"/>
          </a:xfrm>
          <a:prstGeom prst="ellipse">
            <a:avLst/>
          </a:prstGeom>
          <a:solidFill>
            <a:srgbClr val="1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00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53070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Specification des Besoins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365760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9576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But du Projet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15568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463040"/>
            <a:ext cx="2148840" cy="507492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463040"/>
            <a:ext cx="2148840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691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468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Centraliser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24612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Regrouper clients, dossiers et documents en un seul espace.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39" y="1463040"/>
            <a:ext cx="2148840" cy="507492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39" y="1463040"/>
            <a:ext cx="2148840" cy="16459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79" y="1691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02C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79" y="2468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02C"/>
                </a:solidFill>
                <a:latin typeface="Calibri"/>
              </a:rPr>
              <a:t>Optimiser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79" y="324612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Time-Tracking et suivi du temps facturable integre.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1463040"/>
            <a:ext cx="2148840" cy="507492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56048" y="1463040"/>
            <a:ext cx="2148840" cy="16459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1691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B2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2468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2FFF"/>
                </a:solidFill>
                <a:latin typeface="Calibri"/>
              </a:rPr>
              <a:t>Simplifier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324612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Facturation et calcul des honoraires automatises.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6055" y="1463040"/>
            <a:ext cx="2148840" cy="507492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6055" y="1463040"/>
            <a:ext cx="2148840" cy="164592"/>
          </a:xfrm>
          <a:prstGeom prst="rect">
            <a:avLst/>
          </a:prstGeom>
          <a:solidFill>
            <a:srgbClr val="00C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97496" y="1691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880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7496" y="2468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80"/>
                </a:solidFill>
                <a:latin typeface="Calibri"/>
              </a:rPr>
              <a:t>Organiser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7496" y="324612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Agenda interactif et gestion des rendez-vous.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56063" y="1463040"/>
            <a:ext cx="2148840" cy="507492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56063" y="1463040"/>
            <a:ext cx="2148840" cy="1645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47503" y="1691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3" y="2468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Calibri"/>
              </a:rPr>
              <a:t>Securiser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3" y="324612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Controle d'acces RBAC par profil (Avocat / Assistant).</a:t>
            </a:r>
          </a:p>
        </p:txBody>
      </p:sp>
    </p:spTree>
  </p:cSld>
  <p:transition spd="med">
    <p:push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457200"/>
            <a:ext cx="5943600" cy="594360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0"/>
            <a:ext cx="6400800" cy="6400800"/>
          </a:xfrm>
          <a:prstGeom prst="ellipse">
            <a:avLst/>
          </a:prstGeom>
          <a:solidFill>
            <a:srgbClr val="1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00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53070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Conception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3657600" cy="457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9576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Conception  |  Diagramme de Cas d'utilisation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15568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5074920"/>
          </a:xfrm>
          <a:prstGeom prst="rect">
            <a:avLst/>
          </a:prstGeom>
          <a:solidFill>
            <a:srgbClr val="D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1247120" cy="914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56080"/>
                </a:solidFill>
                <a:latin typeface="Calibri"/>
              </a:rPr>
              <a:t>[ Inserer ici la capture du Diagramme de Cas d'utilisation ]</a:t>
            </a:r>
          </a:p>
        </p:txBody>
      </p:sp>
    </p:spTree>
  </p:cSld>
  <p:transition spd="med">
    <p:push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9576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Conception  |  Diagramme de Classe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15568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5074920"/>
          </a:xfrm>
          <a:prstGeom prst="rect">
            <a:avLst/>
          </a:prstGeom>
          <a:solidFill>
            <a:srgbClr val="D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124712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56080"/>
                </a:solidFill>
                <a:latin typeface="Calibri"/>
              </a:rPr>
              <a:t>[ Inserer ici la capture du Diagramme de Classe ]</a:t>
            </a:r>
          </a:p>
        </p:txBody>
      </p:sp>
    </p:spTree>
  </p:cSld>
  <p:transition spd="med">
    <p:push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457200"/>
            <a:ext cx="5943600" cy="594360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0"/>
            <a:ext cx="6400800" cy="6400800"/>
          </a:xfrm>
          <a:prstGeom prst="ellipse">
            <a:avLst/>
          </a:prstGeom>
          <a:solidFill>
            <a:srgbClr val="1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00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53070"/>
                </a:solidFill>
                <a:latin typeface="Calibr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Technologies de Developpement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365760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9576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Technologies de Developpement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15568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5577840" cy="507492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463040"/>
            <a:ext cx="5577840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91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Calibri"/>
              </a:rPr>
              <a:t>FRONT-END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5120640" cy="45720"/>
          </a:xfrm>
          <a:prstGeom prst="rect">
            <a:avLst/>
          </a:prstGeom>
          <a:solidFill>
            <a:srgbClr val="3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5166360" cy="640080"/>
          </a:xfrm>
          <a:prstGeom prst="rect">
            <a:avLst/>
          </a:prstGeom>
          <a:solidFill>
            <a:srgbClr val="1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420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5420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Structurer le contenu des pages web.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18688"/>
            <a:ext cx="5166360" cy="640080"/>
          </a:xfrm>
          <a:prstGeom prst="rect">
            <a:avLst/>
          </a:prstGeom>
          <a:solidFill>
            <a:srgbClr val="1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291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Mise en forme et esthetique des interfaces.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68496"/>
            <a:ext cx="5166360" cy="640080"/>
          </a:xfrm>
          <a:prstGeom prst="rect">
            <a:avLst/>
          </a:prstGeom>
          <a:solidFill>
            <a:srgbClr val="1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416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JavaScript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041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Dynamisme et interactivite navigateur.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18304"/>
            <a:ext cx="5166360" cy="640080"/>
          </a:xfrm>
          <a:prstGeom prst="rect">
            <a:avLst/>
          </a:prstGeom>
          <a:solidFill>
            <a:srgbClr val="1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914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Bootstrap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7914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Framework responsive pour une UI moderne.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463040"/>
            <a:ext cx="5486400" cy="507492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463040"/>
            <a:ext cx="5486400" cy="1371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691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02C"/>
                </a:solidFill>
                <a:latin typeface="Calibri"/>
              </a:rPr>
              <a:t>BACK-END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331720"/>
            <a:ext cx="5029200" cy="45720"/>
          </a:xfrm>
          <a:prstGeom prst="rect">
            <a:avLst/>
          </a:prstGeom>
          <a:solidFill>
            <a:srgbClr val="6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2468880"/>
            <a:ext cx="5074920" cy="1645920"/>
          </a:xfrm>
          <a:prstGeom prst="rect">
            <a:avLst/>
          </a:prstGeom>
          <a:solidFill>
            <a:srgbClr val="1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560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2C"/>
                </a:solidFill>
                <a:latin typeface="Calibri"/>
              </a:rPr>
              <a:t>Symfony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063240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Framework PHP MVC robuste pour creer des applications web complexes et securisees a grande echelle.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389120"/>
            <a:ext cx="5074920" cy="1645920"/>
          </a:xfrm>
          <a:prstGeom prst="rect">
            <a:avLst/>
          </a:prstGeom>
          <a:solidFill>
            <a:srgbClr val="1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480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2C"/>
                </a:solidFill>
                <a:latin typeface="Calibri"/>
              </a:rPr>
              <a:t>MySQL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983480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SGBD relationnel pour stocker et gerer toutes les donnees du cabinet (clients, dossiers, factures...).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1463040"/>
            <a:ext cx="73152" cy="50749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push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457200"/>
            <a:ext cx="5943600" cy="594360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0"/>
            <a:ext cx="6400800" cy="6400800"/>
          </a:xfrm>
          <a:prstGeom prst="ellipse">
            <a:avLst/>
          </a:prstGeom>
          <a:solidFill>
            <a:srgbClr val="1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00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53070"/>
                </a:solidFill>
                <a:latin typeface="Calibr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Realisation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3657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9576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Realisation  |  Page de Connexion (Login)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15568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5074920"/>
          </a:xfrm>
          <a:prstGeom prst="rect">
            <a:avLst/>
          </a:prstGeom>
          <a:solidFill>
            <a:srgbClr val="D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124712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446520"/>
            <a:ext cx="1124712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6080"/>
                </a:solidFill>
                <a:latin typeface="Calibri"/>
              </a:rPr>
              <a:t>[ Inserer ici : Page de Connexion (Login) ]</a:t>
            </a:r>
          </a:p>
        </p:txBody>
      </p:sp>
    </p:spTree>
  </p:cSld>
  <p:transition spd="med">
    <p:push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9576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Realisation  |  Tableau de Bord (Dashboard)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15568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5074920"/>
          </a:xfrm>
          <a:prstGeom prst="rect">
            <a:avLst/>
          </a:prstGeom>
          <a:solidFill>
            <a:srgbClr val="D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1247120" cy="9144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446520"/>
            <a:ext cx="11247120" cy="9144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6080"/>
                </a:solidFill>
                <a:latin typeface="Calibri"/>
              </a:rPr>
              <a:t>[ Inserer ici : Tableau de Bord (Dashboard) ]</a:t>
            </a:r>
          </a:p>
        </p:txBody>
      </p:sp>
    </p:spTree>
  </p:cSld>
  <p:transition spd="med">
    <p:push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9576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Realisation  |  Gestion des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15568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5074920"/>
          </a:xfrm>
          <a:prstGeom prst="rect">
            <a:avLst/>
          </a:prstGeom>
          <a:solidFill>
            <a:srgbClr val="D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1247120" cy="914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446520"/>
            <a:ext cx="11247120" cy="914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6080"/>
                </a:solidFill>
                <a:latin typeface="Calibri"/>
              </a:rPr>
              <a:t>[ Inserer ici : Gestion des Clients ]</a:t>
            </a:r>
          </a:p>
        </p:txBody>
      </p:sp>
    </p:spTree>
  </p:cSld>
  <p:transition spd="med">
    <p:push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9576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Realisation  |  Calendrier Interactif (Agenda)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15568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5074920"/>
          </a:xfrm>
          <a:prstGeom prst="rect">
            <a:avLst/>
          </a:prstGeom>
          <a:solidFill>
            <a:srgbClr val="D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1247120" cy="91440"/>
          </a:xfrm>
          <a:prstGeom prst="rect">
            <a:avLst/>
          </a:prstGeom>
          <a:solidFill>
            <a:srgbClr val="00C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446520"/>
            <a:ext cx="11247120" cy="91440"/>
          </a:xfrm>
          <a:prstGeom prst="rect">
            <a:avLst/>
          </a:prstGeom>
          <a:solidFill>
            <a:srgbClr val="00C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6080"/>
                </a:solidFill>
                <a:latin typeface="Calibri"/>
              </a:rPr>
              <a:t>[ Inserer ici : Calendrier Interactif (Agenda) ]</a:t>
            </a:r>
          </a:p>
        </p:txBody>
      </p:sp>
    </p:spTree>
  </p:cSld>
  <p:transition spd="med">
    <p:push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9576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Realisation  |  Generation de Facture PDF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15568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5074920"/>
          </a:xfrm>
          <a:prstGeom prst="rect">
            <a:avLst/>
          </a:prstGeom>
          <a:solidFill>
            <a:srgbClr val="D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124712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446520"/>
            <a:ext cx="1124712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6080"/>
                </a:solidFill>
                <a:latin typeface="Calibri"/>
              </a:rPr>
              <a:t>[ Inserer ici : Generation de Facture PDF ]</a:t>
            </a:r>
          </a:p>
        </p:txBody>
      </p:sp>
    </p:spTree>
  </p:cSld>
  <p:transition spd="med">
    <p:push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457200"/>
            <a:ext cx="5943600" cy="594360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0"/>
            <a:ext cx="6400800" cy="6400800"/>
          </a:xfrm>
          <a:prstGeom prst="ellipse">
            <a:avLst/>
          </a:prstGeom>
          <a:solidFill>
            <a:srgbClr val="1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00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153070"/>
                </a:solidFill>
                <a:latin typeface="Calibr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Conclusion Generale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365760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7572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95760" y="91440"/>
            <a:ext cx="201168" cy="201168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Conclusion Generale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155680" cy="457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11430000" cy="507492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109728" cy="507492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828800"/>
            <a:ext cx="411480" cy="41148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84708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2C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La plateforme LexPro repond aux besoins complexes des cabinets d'avocats.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834640"/>
            <a:ext cx="411480" cy="41148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8529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2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34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Elle regroupe gestion des clients, dossiers, agenda et facturation dans un seul espace web securise.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840480"/>
            <a:ext cx="411480" cy="41148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5876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2C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Grâce a Symfony et au RBAC, les donnees sensibles sont protegees selon le profil de chaque utilisateur.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846320"/>
            <a:ext cx="411480" cy="411480"/>
          </a:xfrm>
          <a:prstGeom prst="rect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86460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2C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46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Ce projet nous a permis de consolider nos competences techniques et de repondre a une problematique reelle.</a:t>
            </a:r>
          </a:p>
        </p:txBody>
      </p:sp>
    </p:spTree>
  </p:cSld>
  <p:transition spd="med">
    <p:push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7315200" cy="7315200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F2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1371600"/>
            <a:ext cx="3657600" cy="3657600"/>
          </a:xfrm>
          <a:prstGeom prst="ellipse">
            <a:avLst/>
          </a:prstGeom>
          <a:solidFill>
            <a:srgbClr val="121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7772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058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Merci pour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0" b="1" i="0">
                <a:solidFill>
                  <a:srgbClr val="C9A02C"/>
                </a:solidFill>
                <a:latin typeface="Calibri"/>
              </a:rPr>
              <a:t>Votre Attention 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Med Khalil Kribi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DD"/>
                </a:solidFill>
                <a:latin typeface="Calibri"/>
              </a:rPr>
              <a:t>Encadre par : M. Walid Ben Abda  |  BTS Dev. Internet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